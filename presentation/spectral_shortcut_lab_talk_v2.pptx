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0" b="1">
                <a:solidFill>
                  <a:srgbClr val="1A365D"/>
                </a:solidFill>
                <a:latin typeface="Calibri"/>
              </a:rPr>
              <a:t>The Spectral Shortcut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555555"/>
                </a:solidFill>
                <a:latin typeface="Calibri"/>
              </a:rPr>
              <a:t>why locking part of a model makes it better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718304" y="4297680"/>
            <a:ext cx="2743200" cy="73152"/>
          </a:xfrm>
          <a:prstGeom prst="rect">
            <a:avLst/>
          </a:prstGeom>
          <a:solidFill>
            <a:srgbClr val="F5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11274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Krzysztof Dziuba   ·   lab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Calibri"/>
              </a:rPr>
              <a:t>the puzzle</a:t>
            </a:r>
          </a:p>
        </p:txBody>
      </p:sp>
      <p:pic>
        <p:nvPicPr>
          <p:cNvPr id="3" name="Picture 2" descr="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484441"/>
            <a:ext cx="10972800" cy="4163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same model — totally different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Calibri"/>
              </a:rPr>
              <a:t>what's inside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15" y="1280160"/>
            <a:ext cx="1086492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a small "squeezer" feeds a huge "brain" — and the size gap is the whole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Calibri"/>
              </a:rPr>
              <a:t>gradients move backward — like a 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11274552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1A365D"/>
                </a:solidFill>
                <a:latin typeface="Cambria Math"/>
              </a:rPr>
              <a:t>∂L/∂θ   =   ∂L/∂ŷ   ·   ∂ŷ/∂Z   ·   ∂Z/∂θ</a:t>
            </a:r>
          </a:p>
        </p:txBody>
      </p:sp>
      <p:pic>
        <p:nvPicPr>
          <p:cNvPr id="4" name="Picture 3" descr="r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87" y="2194560"/>
            <a:ext cx="10136777" cy="37359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three runners pass the same baton: "residual" → "Jacobian" → "input" → 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4552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E57373"/>
                </a:solidFill>
                <a:latin typeface="Calibri"/>
              </a:rPr>
              <a:t>and then the first runner drops it</a:t>
            </a:r>
          </a:p>
        </p:txBody>
      </p:sp>
      <p:pic>
        <p:nvPicPr>
          <p:cNvPr id="3" name="Picture 2" descr="relay_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53" y="1698171"/>
            <a:ext cx="10130245" cy="37359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cross-entropy saturates fast → residual = 0 → no gradient ever reaches 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Calibri"/>
              </a:rPr>
              <a:t>the "easy line" beats the "right curve"</a:t>
            </a:r>
          </a:p>
        </p:txBody>
      </p:sp>
      <p:pic>
        <p:nvPicPr>
          <p:cNvPr id="3" name="Picture 2" descr="mo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74" y="1280160"/>
            <a:ext cx="728420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45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imagine cancer (blue) vs normal (orange) — gradient descent picks the easy line, ignores the curve.   In our case the "easy line" is morphology, the "right curve" is chemistry.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1127455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365D"/>
                </a:solidFill>
                <a:latin typeface="Calibri"/>
              </a:rPr>
              <a:t>and the data shows it</a:t>
            </a:r>
          </a:p>
        </p:txBody>
      </p:sp>
      <p:pic>
        <p:nvPicPr>
          <p:cNvPr id="3" name="Picture 2" descr="exp1_1_paired_eigen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888736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5321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spatial curvature (blue) grows 75×.
spectral curvature (red) stays flat.</a:t>
            </a:r>
          </a:p>
        </p:txBody>
      </p:sp>
      <p:pic>
        <p:nvPicPr>
          <p:cNvPr id="5" name="Picture 4" descr="prescri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737360"/>
            <a:ext cx="5486400" cy="20817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36792" y="5532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Calibri"/>
              </a:rPr>
              <a:t>freeze.  anchor.  watch.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A365D"/>
                </a:solidFill>
                <a:latin typeface="Calibri"/>
              </a:rPr>
              <a:t>don't train everything at once — the math says you can't.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4552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